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bres_D12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9144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704" y="23774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 i="0">
                <a:solidFill>
                  <a:srgbClr val="F4EFE3"/>
                </a:solidFill>
                <a:latin typeface="Arial"/>
              </a:rPr>
              <a:t>Джура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704" y="3520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Arial"/>
              </a:rPr>
              <a:t>Козацький AI-планер дня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1584" y="416052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A99D85"/>
                </a:solidFill>
                <a:latin typeface="Arial"/>
              </a:rPr>
              <a:t>Кажи все, що в голові, текстом або голосом — джура розбере на задачі і збере план на сьогодні.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304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D12950"/>
                </a:solidFill>
                <a:latin typeface="Arial"/>
              </a:rPr>
              <a:t>todoforest-a.vercel.app</a:t>
            </a:r>
            <a:r>
              <a:rPr sz="1300" b="0" i="0">
                <a:solidFill>
                  <a:srgbClr val="A99D85"/>
                </a:solidFill>
                <a:latin typeface="Arial"/>
              </a:rPr>
              <a:t>   ·   Олександр   ·   воркшоп-MVP   ·   липень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EFE3"/>
                </a:solidFill>
                <a:latin typeface="Arial"/>
              </a:rPr>
              <a:t>Проблема і рішення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58384" cy="29260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965960"/>
            <a:ext cx="777240" cy="777240"/>
          </a:xfrm>
          <a:prstGeom prst="ellipse">
            <a:avLst/>
          </a:prstGeom>
          <a:solidFill>
            <a:srgbClr val="3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xcircle_E044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57" y="2152497"/>
            <a:ext cx="404164" cy="404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207568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EFE3"/>
                </a:solidFill>
                <a:latin typeface="Arial"/>
              </a:rPr>
              <a:t>Біль класичних тудушок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5354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99D85"/>
                </a:solidFill>
                <a:latin typeface="Arial"/>
              </a:rPr>
              <a:t>Щоб додати задачу «правильно», юзер сам проставляє проєкт, дату, пріоритет і теги. Тертя на вході завелике: половина кидає на середині, решта звалює все в Inbox і ніколи не розбирає.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554480"/>
            <a:ext cx="5358384" cy="29260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93408" y="1965960"/>
            <a:ext cx="777240" cy="77724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zap_D9A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945" y="2152497"/>
            <a:ext cx="404164" cy="404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53527" y="207568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EFE3"/>
                </a:solidFill>
                <a:latin typeface="Arial"/>
              </a:rPr>
              <a:t>Рішення Джури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3017520"/>
            <a:ext cx="45354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99D85"/>
                </a:solidFill>
                <a:latin typeface="Arial"/>
              </a:rPr>
              <a:t>Юзер вивалює потік думок — текстом або голосом. AI сам перетворює хаос на структуровані задачі з датою, часом і пріоритетом та щодня збирає чіткий план на сьогодні.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8704" y="51206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D9A441"/>
                </a:solidFill>
                <a:latin typeface="Arial"/>
              </a:rPr>
              <a:t>Ти — отаман. Джура — розбирається.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EFE3"/>
                </a:solidFill>
                <a:latin typeface="Arial"/>
              </a:rPr>
              <a:t>Три екрани — нуль тертя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20240" y="1783080"/>
            <a:ext cx="822960" cy="822960"/>
          </a:xfrm>
          <a:prstGeom prst="ellipse">
            <a:avLst/>
          </a:prstGeom>
          <a:solidFill>
            <a:srgbClr val="3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ubble_E044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50" y="1980590"/>
            <a:ext cx="427939" cy="427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59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4EFE3"/>
                </a:solidFill>
                <a:latin typeface="Arial"/>
              </a:rPr>
              <a:t>Кажи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918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99D85"/>
                </a:solidFill>
                <a:latin typeface="Arial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99D85"/>
                </a:solidFill>
                <a:latin typeface="Arial"/>
              </a:rPr>
              <a:t>Одне поле і мікрофон. Один вхід може містити хоч десять задач — диктуй усе підряд без структури.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137160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79007" y="1783080"/>
            <a:ext cx="822960" cy="82296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st_D9A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18" y="198059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81727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4EFE3"/>
                </a:solidFill>
                <a:latin typeface="Arial"/>
              </a:rPr>
              <a:t>Обоз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32918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99D85"/>
                </a:solidFill>
                <a:latin typeface="Arial"/>
              </a:rPr>
              <a:t>Inbox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7" y="3749039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99D85"/>
                </a:solidFill>
                <a:latin typeface="Arial"/>
              </a:rPr>
              <a:t>Увесь беклог, який розклав AI: дата, час, пріоритет. Схибив — правиш тапом по картці. Протерміновані завжди зверху.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37160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37776" y="1783080"/>
            <a:ext cx="822960" cy="822960"/>
          </a:xfrm>
          <a:prstGeom prst="ellipse">
            <a:avLst/>
          </a:prstGeom>
          <a:solidFill>
            <a:srgbClr val="1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ag_5B9B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286" y="1980590"/>
            <a:ext cx="427939" cy="4279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40496" y="27889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4EFE3"/>
                </a:solidFill>
                <a:latin typeface="Arial"/>
              </a:rPr>
              <a:t>Похід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2918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99D85"/>
                </a:solidFill>
                <a:latin typeface="Arial"/>
              </a:rPr>
              <a:t>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3749039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99D85"/>
                </a:solidFill>
                <a:latin typeface="Arial"/>
              </a:rPr>
              <a:t>План на сьогодні: спершу наздогнати вчорашнє, далі за часом. Чекбокси, виконане — в архів дня.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704" y="598932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99D85"/>
                </a:solidFill>
                <a:latin typeface="Arial"/>
              </a:rPr>
              <a:t>Пріоритети:   </a:t>
            </a:r>
            <a:r>
              <a:rPr sz="1300" b="1" i="0">
                <a:solidFill>
                  <a:srgbClr val="E0446A"/>
                </a:solidFill>
                <a:latin typeface="Arial"/>
              </a:rPr>
              <a:t>горить</a:t>
            </a:r>
            <a:r>
              <a:rPr sz="1300" b="0" i="0">
                <a:solidFill>
                  <a:srgbClr val="A99D85"/>
                </a:solidFill>
                <a:latin typeface="Arial"/>
              </a:rPr>
              <a:t>   ·   </a:t>
            </a:r>
            <a:r>
              <a:rPr sz="1300" b="1" i="0">
                <a:solidFill>
                  <a:srgbClr val="D9A441"/>
                </a:solidFill>
                <a:latin typeface="Arial"/>
              </a:rPr>
              <a:t>до діла</a:t>
            </a:r>
            <a:r>
              <a:rPr sz="1300" b="0" i="0">
                <a:solidFill>
                  <a:srgbClr val="A99D85"/>
                </a:solidFill>
                <a:latin typeface="Arial"/>
              </a:rPr>
              <a:t>   ·   </a:t>
            </a:r>
            <a:r>
              <a:rPr sz="1300" b="1" i="0">
                <a:solidFill>
                  <a:srgbClr val="5B9BD0"/>
                </a:solidFill>
                <a:latin typeface="Arial"/>
              </a:rPr>
              <a:t>потерпить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EFE3"/>
                </a:solidFill>
                <a:latin typeface="Arial"/>
              </a:rPr>
              <a:t>Бренд: легенда і голос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852160" cy="20116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Arial"/>
              </a:rPr>
              <a:t>Легенда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99D85"/>
                </a:solidFill>
                <a:latin typeface="Arial"/>
              </a:rPr>
              <a:t>Джура — помічник козака: виконує доручення, вчиться, допомагає. Користувач — отаман, застосунок — його джура.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20440"/>
            <a:ext cx="5852160" cy="26974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Arial"/>
              </a:rPr>
              <a:t>Тон інтерфейсу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4EFE3"/>
                </a:solidFill>
                <a:latin typeface="Arial"/>
              </a:rPr>
              <a:t>«Джуро, розбери!»   ·   «Слухаю, отамане…»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4EFE3"/>
                </a:solidFill>
                <a:latin typeface="Arial"/>
              </a:rPr>
              <a:t>«Вітаю в лавах!»   ·   «Задачу викреслено · Повернути»</a:t>
            </a:r>
          </a:p>
          <a:p>
            <a:pPr algn="l"/>
            <a:r>
              <a:rPr sz="1250" b="0" i="0">
                <a:solidFill>
                  <a:srgbClr val="A99D85"/>
                </a:solidFill>
                <a:latin typeface="Arial"/>
              </a:rPr>
              <a:t>Козацький колорит без перебору: коротко, тепло, по суті.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325880"/>
            <a:ext cx="4873752" cy="489204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60020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Arial"/>
              </a:rPr>
              <a:t>Палітра «ніч у степу»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2148840"/>
            <a:ext cx="347472" cy="347472"/>
          </a:xfrm>
          <a:prstGeom prst="ellipse">
            <a:avLst/>
          </a:prstGeom>
          <a:solidFill>
            <a:srgbClr val="14110B"/>
          </a:solidFill>
          <a:ln w="12700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1671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4EFE3"/>
                </a:solidFill>
                <a:latin typeface="Arial"/>
              </a:rPr>
              <a:t>Ніч у степу — фон  </a:t>
            </a:r>
            <a:r>
              <a:rPr sz="1100" b="0" i="0">
                <a:solidFill>
                  <a:srgbClr val="A99D85"/>
                </a:solidFill>
                <a:latin typeface="Courier New"/>
              </a:rPr>
              <a:t>#14110B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2715768"/>
            <a:ext cx="347472" cy="347472"/>
          </a:xfrm>
          <a:prstGeom prst="ellipse">
            <a:avLst/>
          </a:prstGeom>
          <a:solidFill>
            <a:srgbClr val="D12950"/>
          </a:solidFill>
          <a:ln w="12700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73405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4EFE3"/>
                </a:solidFill>
                <a:latin typeface="Arial"/>
              </a:rPr>
              <a:t>Козацький малиновий — акцент  </a:t>
            </a:r>
            <a:r>
              <a:rPr sz="1100" b="0" i="0">
                <a:solidFill>
                  <a:srgbClr val="A99D85"/>
                </a:solidFill>
                <a:latin typeface="Courier New"/>
              </a:rPr>
              <a:t>#D12950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3282696"/>
            <a:ext cx="347472" cy="34747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3009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4EFE3"/>
                </a:solidFill>
                <a:latin typeface="Arial"/>
              </a:rPr>
              <a:t>Золото пшениці — medium  </a:t>
            </a:r>
            <a:r>
              <a:rPr sz="1100" b="0" i="0">
                <a:solidFill>
                  <a:srgbClr val="A99D85"/>
                </a:solidFill>
                <a:latin typeface="Courier New"/>
              </a:rPr>
              <a:t>#D9A441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3849624"/>
            <a:ext cx="347472" cy="347472"/>
          </a:xfrm>
          <a:prstGeom prst="ellipse">
            <a:avLst/>
          </a:prstGeom>
          <a:solidFill>
            <a:srgbClr val="5B9BD0"/>
          </a:solidFill>
          <a:ln w="12700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67911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4EFE3"/>
                </a:solidFill>
                <a:latin typeface="Arial"/>
              </a:rPr>
              <a:t>Блакить Дніпра — low  </a:t>
            </a:r>
            <a:r>
              <a:rPr sz="1100" b="0" i="0">
                <a:solidFill>
                  <a:srgbClr val="A99D85"/>
                </a:solidFill>
                <a:latin typeface="Courier New"/>
              </a:rPr>
              <a:t>#5B9BD0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0" y="4416552"/>
            <a:ext cx="347472" cy="347472"/>
          </a:xfrm>
          <a:prstGeom prst="ellipse">
            <a:avLst/>
          </a:prstGeom>
          <a:solidFill>
            <a:srgbClr val="8FAE5B"/>
          </a:solidFill>
          <a:ln w="12700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44348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4EFE3"/>
                </a:solidFill>
                <a:latin typeface="Arial"/>
              </a:rPr>
              <a:t>Степова зелень — success  </a:t>
            </a:r>
            <a:r>
              <a:rPr sz="1100" b="0" i="0">
                <a:solidFill>
                  <a:srgbClr val="A99D85"/>
                </a:solidFill>
                <a:latin typeface="Courier New"/>
              </a:rPr>
              <a:t>#8FAE5B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12064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9D85"/>
                </a:solidFill>
                <a:latin typeface="Arial"/>
              </a:rPr>
              <a:t>Вордмарк — шрифт Unbounded. Знак — схрещені шаблі. Іконки — лінійні, як у застосунку.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EFE3"/>
                </a:solidFill>
                <a:latin typeface="Arial"/>
              </a:rPr>
              <a:t>Що вже в MVP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618488"/>
            <a:ext cx="640080" cy="640080"/>
          </a:xfrm>
          <a:prstGeom prst="ellipse">
            <a:avLst/>
          </a:prstGeom>
          <a:solidFill>
            <a:srgbClr val="3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ap_E044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1772107"/>
            <a:ext cx="332841" cy="3328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19" y="170992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4EFE3"/>
                </a:solidFill>
                <a:latin typeface="Arial"/>
              </a:rPr>
              <a:t>AI-парсинг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99D85"/>
                </a:solidFill>
                <a:latin typeface="Arial"/>
              </a:rPr>
              <a:t>Один вхід → кілька задач. Сервер підставляє реальну дату: «завтра» завжди правильне.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32588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27447" y="1618488"/>
            <a:ext cx="640080" cy="64008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ic_D9A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067" y="177210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04688" y="170992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4EFE3"/>
                </a:solidFill>
                <a:latin typeface="Arial"/>
              </a:rPr>
              <a:t>Голос українською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7" y="24231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99D85"/>
                </a:solidFill>
                <a:latin typeface="Arial"/>
              </a:rPr>
              <a:t>Web Speech API, текст наживо. Працює в Chrome і на iPhone у Safari.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32588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86215" y="1618488"/>
            <a:ext cx="640080" cy="640080"/>
          </a:xfrm>
          <a:prstGeom prst="ellipse">
            <a:avLst/>
          </a:prstGeom>
          <a:solidFill>
            <a:srgbClr val="1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rs_5B9B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835" y="1772107"/>
            <a:ext cx="332841" cy="3328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63455" y="170992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4EFE3"/>
                </a:solidFill>
                <a:latin typeface="Arial"/>
              </a:rPr>
              <a:t>Редагування тапом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215" y="24231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99D85"/>
                </a:solidFill>
                <a:latin typeface="Arial"/>
              </a:rPr>
              <a:t>Дата, час і пріоритет правляться прямо в картці задачі.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133088"/>
            <a:ext cx="640080" cy="640080"/>
          </a:xfrm>
          <a:prstGeom prst="ellipse">
            <a:avLst/>
          </a:prstGeom>
          <a:solidFill>
            <a:srgbClr val="1C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ndo_8FAE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" y="4286707"/>
            <a:ext cx="332841" cy="3328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5919" y="422452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4EFE3"/>
                </a:solidFill>
                <a:latin typeface="Arial"/>
              </a:rPr>
              <a:t>Undo і фідбек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377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99D85"/>
                </a:solidFill>
                <a:latin typeface="Arial"/>
              </a:rPr>
              <a:t>Тост «Повернути» при видаленні, підсвітка щойно доданих задач.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384048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27447" y="4133088"/>
            <a:ext cx="640080" cy="640080"/>
          </a:xfrm>
          <a:prstGeom prst="ellipse">
            <a:avLst/>
          </a:prstGeom>
          <a:solidFill>
            <a:srgbClr val="3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user_E044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067" y="4286707"/>
            <a:ext cx="332841" cy="33284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04688" y="422452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4EFE3"/>
                </a:solidFill>
                <a:latin typeface="Arial"/>
              </a:rPr>
              <a:t>Онбординг і реєстр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7" y="49377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99D85"/>
                </a:solidFill>
                <a:latin typeface="Arial"/>
              </a:rPr>
              <a:t>Знайомство з продуктом і ім'я отамана. Профіль живе на пристрої.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384048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86215" y="4133088"/>
            <a:ext cx="640080" cy="64008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_D9A4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9835" y="4286707"/>
            <a:ext cx="332841" cy="33284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63455" y="422452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4EFE3"/>
                </a:solidFill>
                <a:latin typeface="Arial"/>
              </a:rPr>
              <a:t>Mobile-first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6215" y="49377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99D85"/>
                </a:solidFill>
                <a:latin typeface="Arial"/>
              </a:rPr>
              <a:t>Однією рукою: тач-таргети від 44px, safe-area, липкий хедер.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EFE3"/>
                </a:solidFill>
                <a:latin typeface="Arial"/>
              </a:rPr>
              <a:t>Під капотом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292117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50" b="1">
                <a:solidFill>
                  <a:srgbClr val="F4EFE3"/>
                </a:solidFill>
                <a:latin typeface="Arial"/>
              </a:rPr>
              <a:t>Текст / голос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1426464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12950"/>
                </a:solidFill>
                <a:latin typeface="Arial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88336" y="137160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292117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50" b="1">
                <a:solidFill>
                  <a:srgbClr val="F4EFE3"/>
                </a:solidFill>
                <a:latin typeface="Arial"/>
              </a:rPr>
              <a:t>/api/parse · Next.js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1183" y="1426464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12950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93792" y="137160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292117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50" b="1">
                <a:solidFill>
                  <a:srgbClr val="F4EFE3"/>
                </a:solidFill>
                <a:latin typeface="Arial"/>
              </a:rPr>
              <a:t>Claude Haiku · OpenRouter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26464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12950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137160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292117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50" b="1">
                <a:solidFill>
                  <a:srgbClr val="F4EFE3"/>
                </a:solidFill>
                <a:latin typeface="Arial"/>
              </a:rPr>
              <a:t>JSON-задачі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1426464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12950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13264" y="137160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292117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50" b="1">
                <a:solidFill>
                  <a:srgbClr val="F4EFE3"/>
                </a:solidFill>
                <a:latin typeface="Arial"/>
              </a:rPr>
              <a:t>localStorage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6766560" cy="36118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Arial"/>
              </a:rPr>
              <a:t>Ключові рішення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6035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A99D85"/>
                </a:solidFill>
                <a:latin typeface="Arial"/>
              </a:rPr>
              <a:t>—  Ключ API живе тільки в env-змінних на сервері — ніколи в клієнті.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A99D85"/>
                </a:solidFill>
                <a:latin typeface="Arial"/>
              </a:rPr>
              <a:t>—  Сервер сам передає в промпт реальну дату й день тижня — модель не вгадує, що таке «завтра» чи «у п'ятницю».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A99D85"/>
                </a:solidFill>
                <a:latin typeface="Arial"/>
              </a:rPr>
              <a:t>—  Відповіді моделі не довіряємо: парсимо, валідуємо поля, чистимо сміття навколо JSON.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A99D85"/>
                </a:solidFill>
                <a:latin typeface="Arial"/>
              </a:rPr>
              <a:t>—  Без бекенд-БД свідомо: localStorage = швидкий MVP без інфраструктури.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514600"/>
            <a:ext cx="4005072" cy="3611880"/>
          </a:xfrm>
          <a:prstGeom prst="roundRect">
            <a:avLst>
              <a:gd name="adj" fmla="val 8000"/>
            </a:avLst>
          </a:prstGeom>
          <a:solidFill>
            <a:srgbClr val="292117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78892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Arial"/>
              </a:rPr>
              <a:t>Схема задачі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291840"/>
            <a:ext cx="34747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4EFE3"/>
                </a:solidFill>
                <a:latin typeface="Courier New"/>
              </a:rPr>
              <a:t>{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4EFE3"/>
                </a:solidFill>
                <a:latin typeface="Courier New"/>
              </a:rPr>
              <a:t>  "title":    string,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4EFE3"/>
                </a:solidFill>
                <a:latin typeface="Courier New"/>
              </a:rPr>
              <a:t>  "priority": high | medium | low,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4EFE3"/>
                </a:solidFill>
                <a:latin typeface="Courier New"/>
              </a:rPr>
              <a:t>  "dueDate":  YYYY-MM-DD | null,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4EFE3"/>
                </a:solidFill>
                <a:latin typeface="Courier New"/>
              </a:rPr>
              <a:t>  "time":     HH:MM | null,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4EFE3"/>
                </a:solidFill>
                <a:latin typeface="Courier New"/>
              </a:rPr>
              <a:t>  "notes":    string | null,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4EFE3"/>
                </a:solidFill>
                <a:latin typeface="Courier New"/>
              </a:rPr>
              <a:t>  "done":     boolean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4EFE3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EFE3"/>
                </a:solidFill>
                <a:latin typeface="Arial"/>
              </a:rPr>
              <a:t>Якість: перевірено руками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D12950"/>
                </a:solidFill>
                <a:latin typeface="Arial"/>
              </a:rPr>
              <a:t>35+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99D85"/>
                </a:solidFill>
                <a:latin typeface="Arial"/>
              </a:rPr>
              <a:t>тест-кейсів пройдено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8144" y="13258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15544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D9A441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1024" y="24688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99D85"/>
                </a:solidFill>
                <a:latin typeface="Arial"/>
              </a:rPr>
              <a:t>флоу-блоків покрито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3258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544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5B9BD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688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99D85"/>
                </a:solidFill>
                <a:latin typeface="Arial"/>
              </a:rPr>
              <a:t>платформи: iOS і десктоп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13258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5544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8FAE5B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4688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99D85"/>
                </a:solidFill>
                <a:latin typeface="Arial"/>
              </a:rPr>
              <a:t>відкритих багів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11091672" cy="269748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749039"/>
            <a:ext cx="685800" cy="685800"/>
          </a:xfrm>
          <a:prstGeom prst="ellipse">
            <a:avLst/>
          </a:prstGeom>
          <a:solidFill>
            <a:srgbClr val="1C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8FAE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913631"/>
            <a:ext cx="356616" cy="356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83080" y="3858768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EFE3"/>
                </a:solidFill>
                <a:latin typeface="Arial"/>
              </a:rPr>
              <a:t>Що ганяли на проді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A99D85"/>
                </a:solidFill>
                <a:latin typeface="Arial"/>
              </a:rPr>
              <a:t>Відносні дати («завтра», «у п'ятницю», «післязавтра») · голос на iOS Safari і в Chrome · undo видалення · сортування Обозу · порожні стани · safe-area · збереження після перезавантаження.</a:t>
            </a:r>
          </a:p>
          <a:p>
            <a:pPr algn="l"/>
            <a:r>
              <a:rPr sz="1350" b="1" i="0">
                <a:solidFill>
                  <a:srgbClr val="F4EFE3"/>
                </a:solidFill>
                <a:latin typeface="Arial"/>
              </a:rPr>
              <a:t>Знайдене — виправлено одразу: </a:t>
            </a:r>
            <a:r>
              <a:rPr sz="1350" b="0" i="0">
                <a:solidFill>
                  <a:srgbClr val="A99D85"/>
                </a:solidFill>
                <a:latin typeface="Arial"/>
              </a:rPr>
              <a:t>сортування за близькістю дати, мобільні кнопки реєстру, редагування часу в картці.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EFE3"/>
                </a:solidFill>
                <a:latin typeface="Arial"/>
              </a:rPr>
              <a:t>Роадмап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58384" cy="146304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755648"/>
            <a:ext cx="685800" cy="685800"/>
          </a:xfrm>
          <a:prstGeom prst="ellipse">
            <a:avLst/>
          </a:prstGeom>
          <a:solidFill>
            <a:srgbClr val="3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ud_E044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1" y="1920240"/>
            <a:ext cx="356616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6276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EFE3"/>
                </a:solidFill>
                <a:latin typeface="Arial"/>
              </a:rPr>
              <a:t>Справжні акаунти й синхронізація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99D85"/>
                </a:solidFill>
                <a:latin typeface="Arial"/>
              </a:rPr>
              <a:t>Supabase, задачі в БД. Дизайн входу і реєстрації вже готовий.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7" y="1371600"/>
            <a:ext cx="5358384" cy="146304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6247" y="1755648"/>
            <a:ext cx="685800" cy="68580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tate_D9A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39" y="1920240"/>
            <a:ext cx="356616" cy="3566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70648" y="16276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EFE3"/>
                </a:solidFill>
                <a:latin typeface="Arial"/>
              </a:rPr>
              <a:t>Автоперенесення хвостів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130552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99D85"/>
                </a:solidFill>
                <a:latin typeface="Arial"/>
              </a:rPr>
              <a:t>Невиконане сьогодні джура сам тягне на завтра.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5358384" cy="146304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447288"/>
            <a:ext cx="685800" cy="685800"/>
          </a:xfrm>
          <a:prstGeom prst="ellipse">
            <a:avLst/>
          </a:prstGeom>
          <a:solidFill>
            <a:srgbClr val="1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lendar_5B9B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1" y="3611880"/>
            <a:ext cx="356616" cy="356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37360" y="331927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EFE3"/>
                </a:solidFill>
                <a:latin typeface="Arial"/>
              </a:rPr>
              <a:t>Тиждень і деталі задачі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22191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99D85"/>
                </a:solidFill>
                <a:latin typeface="Arial"/>
              </a:rPr>
              <a:t>Вигляд тижня, сторінка задачі, теги й фільтри.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7" y="3063240"/>
            <a:ext cx="5358384" cy="146304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6247" y="3447288"/>
            <a:ext cx="685800" cy="685800"/>
          </a:xfrm>
          <a:prstGeom prst="ellipse">
            <a:avLst/>
          </a:prstGeom>
          <a:solidFill>
            <a:srgbClr val="1C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cal_8FAE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39" y="3611880"/>
            <a:ext cx="356616" cy="3566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70648" y="331927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EFE3"/>
                </a:solidFill>
                <a:latin typeface="Arial"/>
              </a:rPr>
              <a:t>Google Calendar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3822191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99D85"/>
                </a:solidFill>
                <a:latin typeface="Arial"/>
              </a:rPr>
              <a:t>Задачі з часом автоматично їдуть у календар.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5358384" cy="146304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5138928"/>
            <a:ext cx="685800" cy="685800"/>
          </a:xfrm>
          <a:prstGeom prst="ellipse">
            <a:avLst/>
          </a:prstGeom>
          <a:solidFill>
            <a:srgbClr val="1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end_5B9B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1" y="5303520"/>
            <a:ext cx="356616" cy="3566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37360" y="501091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EFE3"/>
                </a:solidFill>
                <a:latin typeface="Arial"/>
              </a:rPr>
              <a:t>Telegram-бот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513832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99D85"/>
                </a:solidFill>
                <a:latin typeface="Arial"/>
              </a:rPr>
              <a:t>Кидаєш джурі задачі прямо в чат — вони в Обозі.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7" y="4754880"/>
            <a:ext cx="5358384" cy="1463040"/>
          </a:xfrm>
          <a:prstGeom prst="roundRect">
            <a:avLst>
              <a:gd name="adj" fmla="val 8000"/>
            </a:avLst>
          </a:prstGeom>
          <a:solidFill>
            <a:srgbClr val="1D1811"/>
          </a:solidFill>
          <a:ln w="9525">
            <a:solidFill>
              <a:srgbClr val="3B32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56247" y="5138928"/>
            <a:ext cx="685800" cy="685800"/>
          </a:xfrm>
          <a:prstGeom prst="ellipse">
            <a:avLst/>
          </a:prstGeom>
          <a:solidFill>
            <a:srgbClr val="3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ic_E0446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39" y="5303520"/>
            <a:ext cx="356616" cy="35661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70648" y="501091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EFE3"/>
                </a:solidFill>
                <a:latin typeface="Arial"/>
              </a:rPr>
              <a:t>Голос 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5513832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99D85"/>
                </a:solidFill>
                <a:latin typeface="Arial"/>
              </a:rPr>
              <a:t>Диктування без кнопки, виправлення на льоту.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A99D85"/>
                </a:solidFill>
                <a:latin typeface="Arial"/>
              </a:rPr>
              <a:t>Перший крок уже спроєктований: макети входу/реєстрації — у design/auth-mockups.html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bres_D12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7" y="123444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304" y="26974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4EFE3"/>
                </a:solidFill>
                <a:latin typeface="Arial"/>
              </a:rPr>
              <a:t>Думай уголос. Обоз повезе джура.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704" y="388620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12950"/>
                </a:solidFill>
                <a:latin typeface="Arial"/>
              </a:rPr>
              <a:t>todoforest-a.vercel.app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704" y="47091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A99D85"/>
                </a:solidFill>
                <a:latin typeface="Arial"/>
              </a:rPr>
              <a:t>Демо ≤ 7 хвилин — у Loom. Слава Україні!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